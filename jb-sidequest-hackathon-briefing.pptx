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ta Das" userId="4249b70446c784ca" providerId="LiveId" clId="{1B0642B9-DCFD-40F6-836F-B0A2F27A345F}"/>
    <pc:docChg chg="undo custSel modSld">
      <pc:chgData name="Prasanta Das" userId="4249b70446c784ca" providerId="LiveId" clId="{1B0642B9-DCFD-40F6-836F-B0A2F27A345F}" dt="2026-09-04T11:07:24.083" v="64" actId="20577"/>
      <pc:docMkLst>
        <pc:docMk/>
      </pc:docMkLst>
      <pc:sldChg chg="modSp mod">
        <pc:chgData name="Prasanta Das" userId="4249b70446c784ca" providerId="LiveId" clId="{1B0642B9-DCFD-40F6-836F-B0A2F27A345F}" dt="2026-09-04T11:05:12.467" v="24" actId="20577"/>
        <pc:sldMkLst>
          <pc:docMk/>
          <pc:sldMk cId="0" sldId="257"/>
        </pc:sldMkLst>
        <pc:spChg chg="mod">
          <ac:chgData name="Prasanta Das" userId="4249b70446c784ca" providerId="LiveId" clId="{1B0642B9-DCFD-40F6-836F-B0A2F27A345F}" dt="2026-09-04T11:05:12.467" v="24" actId="20577"/>
          <ac:spMkLst>
            <pc:docMk/>
            <pc:sldMk cId="0" sldId="257"/>
            <ac:spMk id="8" creationId="{00000000-0000-0000-0000-000000000000}"/>
          </ac:spMkLst>
        </pc:spChg>
      </pc:sldChg>
      <pc:sldChg chg="addSp delSp modSp mod">
        <pc:chgData name="Prasanta Das" userId="4249b70446c784ca" providerId="LiveId" clId="{1B0642B9-DCFD-40F6-836F-B0A2F27A345F}" dt="2026-09-04T11:07:24.083" v="64" actId="20577"/>
        <pc:sldMkLst>
          <pc:docMk/>
          <pc:sldMk cId="0" sldId="259"/>
        </pc:sldMkLst>
        <pc:spChg chg="del mod">
          <ac:chgData name="Prasanta Das" userId="4249b70446c784ca" providerId="LiveId" clId="{1B0642B9-DCFD-40F6-836F-B0A2F27A345F}" dt="2026-09-04T11:07:08.620" v="51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Prasanta Das" userId="4249b70446c784ca" providerId="LiveId" clId="{1B0642B9-DCFD-40F6-836F-B0A2F27A345F}" dt="2026-09-04T11:07:24.083" v="64" actId="20577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Prasanta Das" userId="4249b70446c784ca" providerId="LiveId" clId="{1B0642B9-DCFD-40F6-836F-B0A2F27A345F}" dt="2026-09-04T11:05:33.092" v="49" actId="20577"/>
          <ac:spMkLst>
            <pc:docMk/>
            <pc:sldMk cId="0" sldId="259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Calibri"/>
              </a:rPr>
              <a:t>JULIUS BAER AI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jb-sidequest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AEE"/>
                </a:solidFill>
                <a:latin typeface="Calibri"/>
              </a:rPr>
              <a:t>Two use cases — pick one, or attempt both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B6370"/>
                </a:solidFill>
                <a:latin typeface="Calibri"/>
              </a:rPr>
              <a:t>Use case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USE CASE 1  • 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Payment Investigation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2084832" cy="38404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sz="1200" b="1">
                <a:solidFill>
                  <a:srgbClr val="8A6200"/>
                </a:solidFill>
              </a:rPr>
              <a:t>LLM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572768"/>
            <a:ext cx="2980944" cy="384048"/>
          </a:xfrm>
          <a:prstGeom prst="roundRect">
            <a:avLst>
              <a:gd name="adj" fmla="val 50000"/>
            </a:avLst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sz="1200" b="1">
                <a:solidFill>
                  <a:srgbClr val="0F1E3D"/>
                </a:solidFill>
              </a:rPr>
              <a:t>AGENT + RAG +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700" b="1" dirty="0">
                <a:solidFill>
                  <a:srgbClr val="0F1E3D"/>
                </a:solidFill>
                <a:latin typeface="Calibri"/>
              </a:rPr>
              <a:t>Overview</a:t>
            </a:r>
            <a:endParaRPr sz="1700" b="1" i="0" dirty="0">
              <a:solidFill>
                <a:srgbClr val="0F1E3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3949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You're building an AI assistant for a bank's compliance team. For Example : When a compliance officer asks "Should P50001 require enhanced review?", the assistant doesn't guess — it looks up the payment, checks the client's region, retrieves the relevant policy, compares amounts against thresholds, and gives a grounded answer with citations.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F1E3D"/>
                </a:solidFill>
                <a:latin typeface="Calibri"/>
              </a:rPr>
              <a:t>What we're looking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dirty="0">
                <a:solidFill>
                  <a:srgbClr val="222630"/>
                </a:solidFill>
                <a:latin typeface="Calibri"/>
              </a:rPr>
              <a:t>▪  Answers that are actually grounded in the provided data/policies, with real citations — not plausible-sounding fabrication.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dirty="0">
                <a:solidFill>
                  <a:srgbClr val="222630"/>
                </a:solidFill>
                <a:latin typeface="Calibri"/>
              </a:rPr>
              <a:t>▪  Sensible tool orchestration: the agent picks the right tool(s) for each question instead of dumping everything into one giant prompt.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dirty="0">
                <a:solidFill>
                  <a:srgbClr val="222630"/>
                </a:solidFill>
                <a:latin typeface="Calibri"/>
              </a:rPr>
              <a:t>▪  RAG that retrieves the relevant policy docs, not the decoys mixed into the corpus on purpose.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dirty="0">
                <a:solidFill>
                  <a:srgbClr val="222630"/>
                </a:solidFill>
                <a:latin typeface="Calibri"/>
              </a:rPr>
              <a:t>▪  Clean, readable implementation across tools/, rag/, and agent/.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Julius Baer AI Hackathon  •  jb-sidequest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Use case 1 of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USE CASE 1  •  WHAT YOU'RE BUILDING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" y="484632"/>
            <a:ext cx="10972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 assistant that shows its working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600200"/>
            <a:ext cx="11094415" cy="1005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22960" y="17373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A COMPLIANCE OFFICER ASKS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20116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0F1E3D"/>
                </a:solidFill>
                <a:latin typeface="Calibri"/>
              </a:rPr>
              <a:t>“Should P50001 require enhanced review?”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926080"/>
            <a:ext cx="2072579" cy="2377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dge 10"/>
          <p:cNvSpPr/>
          <p:nvPr/>
        </p:nvSpPr>
        <p:spPr>
          <a:xfrm>
            <a:off x="777240" y="3131820"/>
            <a:ext cx="411480" cy="4114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" y="3672840"/>
            <a:ext cx="161537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E3D"/>
                </a:solidFill>
                <a:latin typeface="Calibri"/>
              </a:rPr>
              <a:t>Look up the payment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240" y="4373880"/>
            <a:ext cx="1615379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630"/>
                </a:solidFill>
                <a:latin typeface="Calibri"/>
              </a:rPr>
              <a:t>Amount, corridor and counterparty, from the structured data.</a:t>
            </a:r>
          </a:p>
        </p:txBody>
      </p:sp>
      <p:sp>
        <p:nvSpPr>
          <p:cNvPr id="13" name="Shape 13"/>
          <p:cNvSpPr/>
          <p:nvPr/>
        </p:nvSpPr>
        <p:spPr>
          <a:xfrm>
            <a:off x="2804099" y="2926080"/>
            <a:ext cx="2072579" cy="2377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dge 14"/>
          <p:cNvSpPr/>
          <p:nvPr/>
        </p:nvSpPr>
        <p:spPr>
          <a:xfrm>
            <a:off x="3032699" y="3131820"/>
            <a:ext cx="411480" cy="4114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2699" y="3672840"/>
            <a:ext cx="161537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E3D"/>
                </a:solidFill>
                <a:latin typeface="Calibri"/>
              </a:rPr>
              <a:t>Check the client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2699" y="4373880"/>
            <a:ext cx="1615379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630"/>
                </a:solidFill>
                <a:latin typeface="Calibri"/>
              </a:rPr>
              <a:t>Profile and region — the facts the policy actually turns on.</a:t>
            </a:r>
          </a:p>
        </p:txBody>
      </p:sp>
      <p:sp>
        <p:nvSpPr>
          <p:cNvPr id="17" name="Shape 17"/>
          <p:cNvSpPr/>
          <p:nvPr/>
        </p:nvSpPr>
        <p:spPr>
          <a:xfrm>
            <a:off x="5059558" y="2926080"/>
            <a:ext cx="2072579" cy="2377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dge 18"/>
          <p:cNvSpPr/>
          <p:nvPr/>
        </p:nvSpPr>
        <p:spPr>
          <a:xfrm>
            <a:off x="5288158" y="3131820"/>
            <a:ext cx="411480" cy="4114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88158" y="3672840"/>
            <a:ext cx="161537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E3D"/>
                </a:solidFill>
                <a:latin typeface="Calibri"/>
              </a:rPr>
              <a:t>Retrieve the policy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88158" y="4373880"/>
            <a:ext cx="1615379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630"/>
                </a:solidFill>
                <a:latin typeface="Calibri"/>
              </a:rPr>
              <a:t>The clause that applies, not one of the decoys in the corpus.</a:t>
            </a:r>
          </a:p>
        </p:txBody>
      </p:sp>
      <p:sp>
        <p:nvSpPr>
          <p:cNvPr id="21" name="Shape 21"/>
          <p:cNvSpPr/>
          <p:nvPr/>
        </p:nvSpPr>
        <p:spPr>
          <a:xfrm>
            <a:off x="7315017" y="2926080"/>
            <a:ext cx="2072579" cy="2377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22"/>
          <p:cNvSpPr/>
          <p:nvPr/>
        </p:nvSpPr>
        <p:spPr>
          <a:xfrm>
            <a:off x="7543617" y="3131820"/>
            <a:ext cx="411480" cy="4114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43617" y="3672840"/>
            <a:ext cx="161537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E3D"/>
                </a:solidFill>
                <a:latin typeface="Calibri"/>
              </a:rPr>
              <a:t>Compare the thresholds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43617" y="4373880"/>
            <a:ext cx="1615379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630"/>
                </a:solidFill>
                <a:latin typeface="Calibri"/>
              </a:rPr>
              <a:t>A deterministic tool does the arithmetic. The model does not.</a:t>
            </a:r>
          </a:p>
        </p:txBody>
      </p:sp>
      <p:sp>
        <p:nvSpPr>
          <p:cNvPr id="25" name="Shape 25"/>
          <p:cNvSpPr/>
          <p:nvPr/>
        </p:nvSpPr>
        <p:spPr>
          <a:xfrm>
            <a:off x="9570476" y="2926080"/>
            <a:ext cx="2072579" cy="2377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adge 26"/>
          <p:cNvSpPr/>
          <p:nvPr/>
        </p:nvSpPr>
        <p:spPr>
          <a:xfrm>
            <a:off x="9799076" y="3131820"/>
            <a:ext cx="411480" cy="4114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9076" y="3672840"/>
            <a:ext cx="1615379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E3D"/>
                </a:solidFill>
                <a:latin typeface="Calibri"/>
              </a:rPr>
              <a:t>Answer, with citations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9076" y="4373880"/>
            <a:ext cx="1615379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630"/>
                </a:solidFill>
                <a:latin typeface="Calibri"/>
              </a:rPr>
              <a:t>Every claim traceable to the payment, the client or the clause.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0F1E3D"/>
                </a:solidFill>
                <a:latin typeface="Calibri"/>
              </a:rPr>
              <a:t>It does not guess. Every step above is a real lookup, and the answer says which ones it used.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sz="1000" b="0">
                <a:solidFill>
                  <a:srgbClr val="5B6370"/>
                </a:solidFill>
                <a:latin typeface="Calibri"/>
              </a:rPr>
              <a:t>Julius Baer AI Hackathon  •  jb-sidequest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sz="1000" b="0">
                <a:solidFill>
                  <a:srgbClr val="5B6370"/>
                </a:solidFill>
                <a:latin typeface="Calibri"/>
              </a:rPr>
              <a:t>Use case 1 of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USE CASE 1  • 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Setup &amp;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sz="1200" b="1">
                <a:solidFill>
                  <a:srgbClr val="0F1E3D"/>
                </a:solidFill>
              </a:rPr>
              <a:t>~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1572768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sz="1200" b="1">
                <a:solidFill>
                  <a:srgbClr val="0F1E3D"/>
                </a:solidFill>
              </a:rPr>
              <a:t>MANUAL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1.  cd usecase-1-payment-investigation-agent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2.  python -m venv .venv &amp;&amp; activate it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3.  pip install -r requirements.txt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4.  cp .env.example .env  — add your LLM API key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5.  pip install your chosen LLM SDK (e.g. openai)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6.  Implement tools/, rag/pipeline.py, agent/agent.py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7.  Run: python main.py --questions questions/questions.json --output submission.json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Submit &amp; read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22630"/>
                </a:solidFill>
                <a:latin typeface="Calibri"/>
              </a:rPr>
              <a:t>Submit:  </a:t>
            </a:r>
            <a:r>
              <a:rPr sz="1500">
                <a:solidFill>
                  <a:srgbClr val="222630"/>
                </a:solidFill>
                <a:latin typeface="Calibri"/>
              </a:rPr>
              <a:t>submission.json (exactly 10 answers, schema in SUBMISSION_GUIDE.md) + your source code.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22630"/>
                </a:solidFill>
                <a:latin typeface="Calibri"/>
              </a:rPr>
              <a:t>Graded:  </a:t>
            </a:r>
            <a:r>
              <a:rPr sz="1500">
                <a:solidFill>
                  <a:srgbClr val="222630"/>
                </a:solidFill>
                <a:latin typeface="Calibri"/>
              </a:rPr>
              <a:t>manually, against a private answer key (EVALUATION_CRITERIA.md).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Read before you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5720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PARTICIPANT_INSTRUCTIONS.md — your three tasks and schedule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DATA_NOTES.md — important data clarifications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AI_ARCHITECTURE_REQUIREMENTS.md — required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Julius Baer AI Hackathon  •  jb-sidequest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Use case 1 of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USE CASE 2  • 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Production Incident Investigator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128" y="1644509"/>
            <a:ext cx="3493008" cy="384048"/>
          </a:xfrm>
          <a:prstGeom prst="roundRect">
            <a:avLst>
              <a:gd name="adj" fmla="val 50000"/>
            </a:avLst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lang="en-SG" sz="1200" b="1" dirty="0">
                <a:solidFill>
                  <a:srgbClr val="0F1E3D"/>
                </a:solidFill>
              </a:rPr>
              <a:t>INGESTION + </a:t>
            </a:r>
            <a:r>
              <a:rPr sz="1200" b="1" dirty="0">
                <a:solidFill>
                  <a:srgbClr val="0F1E3D"/>
                </a:solidFill>
              </a:rPr>
              <a:t>RETRIEVAL + 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700" b="1" dirty="0">
                <a:solidFill>
                  <a:srgbClr val="0F1E3D"/>
                </a:solidFill>
                <a:latin typeface="Calibri"/>
              </a:rPr>
              <a:t>Overview</a:t>
            </a:r>
            <a:endParaRPr sz="1700" b="1" i="0" dirty="0">
              <a:solidFill>
                <a:srgbClr val="0F1E3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394960" cy="2400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SG" dirty="0"/>
              <a:t>You’re making an on-call engineer's assistant. Given a corpus of documents for one production incident (logs, architecture, deployment history, known issues, runbooks, previous incidents, API specs) plus a plain-English symptom description, you must produce a structured incident report with a calibrated confidence score.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endParaRPr sz="1500" dirty="0">
              <a:solidFill>
                <a:srgbClr val="22263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What we're looking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Retrieval that genuinely ranks the corpus by relevance to the query — not a hardcoded shortcut.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Correlation that checks whether independent sources actually agree, not just restating the single top-ranked hit.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Confidence calibration that's honest: thin evidence should score low, not confidently wrong.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An approach general enough to work on both incidents — no filename or magic-string hacks tuned to one of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Julius Baer AI Hackathon  •  jb-sidequest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Use case 2 of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USE CASE 2  •  WHAT YOU'RE BUILDING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" y="484632"/>
            <a:ext cx="10972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From a vague symptom to a defensible report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600200"/>
            <a:ext cx="11094415" cy="1005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22960" y="17373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YOU ARE THE ON-CALL ENGINEER'S ASSISTANT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20116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0F1E3D"/>
                </a:solidFill>
                <a:latin typeface="Calibri"/>
              </a:rPr>
              <a:t>“Checkout is timing out for some customers since this morning.”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926080"/>
            <a:ext cx="5120640" cy="23774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2296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0F1E3D"/>
                </a:solidFill>
                <a:latin typeface="Calibri"/>
              </a:rPr>
              <a:t>What you are given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100" b="0">
                <a:solidFill>
                  <a:srgbClr val="5B6370"/>
                </a:solidFill>
                <a:latin typeface="Calibri"/>
              </a:rPr>
              <a:t>One incident. Seven kinds of document.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372618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22960" y="372618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Logs</a:t>
            </a:r>
          </a:p>
        </p:txBody>
      </p:sp>
      <p:sp>
        <p:nvSpPr>
          <p:cNvPr id="14" name="Shape 14"/>
          <p:cNvSpPr/>
          <p:nvPr/>
        </p:nvSpPr>
        <p:spPr>
          <a:xfrm>
            <a:off x="3177540" y="372618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177540" y="372618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Architecture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406146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2960" y="406146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Deployment history</a:t>
            </a:r>
          </a:p>
        </p:txBody>
      </p:sp>
      <p:sp>
        <p:nvSpPr>
          <p:cNvPr id="18" name="Shape 18"/>
          <p:cNvSpPr/>
          <p:nvPr/>
        </p:nvSpPr>
        <p:spPr>
          <a:xfrm>
            <a:off x="3177540" y="406146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3177540" y="406146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Known issues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439674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822960" y="439674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Runbooks</a:t>
            </a:r>
          </a:p>
        </p:txBody>
      </p:sp>
      <p:sp>
        <p:nvSpPr>
          <p:cNvPr id="22" name="Shape 22"/>
          <p:cNvSpPr/>
          <p:nvPr/>
        </p:nvSpPr>
        <p:spPr>
          <a:xfrm>
            <a:off x="3177540" y="439674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3177540" y="439674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Previous incidents</a:t>
            </a:r>
          </a:p>
        </p:txBody>
      </p:sp>
      <p:sp>
        <p:nvSpPr>
          <p:cNvPr id="24" name="Shape 24"/>
          <p:cNvSpPr/>
          <p:nvPr/>
        </p:nvSpPr>
        <p:spPr>
          <a:xfrm>
            <a:off x="822960" y="4732020"/>
            <a:ext cx="22174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822960" y="4732020"/>
            <a:ext cx="22174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F1E3D"/>
                </a:solidFill>
                <a:latin typeface="Calibri"/>
              </a:rPr>
              <a:t>API specs</a:t>
            </a:r>
          </a:p>
        </p:txBody>
      </p:sp>
      <p:sp>
        <p:nvSpPr>
          <p:cNvPr id="26" name="Shape 26"/>
          <p:cNvSpPr/>
          <p:nvPr/>
        </p:nvSpPr>
        <p:spPr>
          <a:xfrm>
            <a:off x="6012180" y="3977640"/>
            <a:ext cx="487680" cy="27432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hape 27"/>
          <p:cNvSpPr/>
          <p:nvPr/>
        </p:nvSpPr>
        <p:spPr>
          <a:xfrm>
            <a:off x="6842760" y="2926080"/>
            <a:ext cx="4800295" cy="23774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7117080" y="3108960"/>
            <a:ext cx="425165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0F1E3D"/>
                </a:solidFill>
                <a:latin typeface="Calibri"/>
              </a:rPr>
              <a:t>What you must produce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7080" y="3429000"/>
            <a:ext cx="425165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100" b="0">
                <a:solidFill>
                  <a:srgbClr val="5B6370"/>
                </a:solidFill>
                <a:latin typeface="Calibri"/>
              </a:rPr>
              <a:t>One structured incident report per incident.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17080" y="3726180"/>
            <a:ext cx="4251655" cy="205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0F1E3D"/>
                </a:solidFill>
                <a:latin typeface="Calibri"/>
              </a:rPr>
              <a:t>Root cause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17080" y="3909060"/>
            <a:ext cx="425165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050" b="0">
                <a:solidFill>
                  <a:srgbClr val="222630"/>
                </a:solidFill>
                <a:latin typeface="Calibri"/>
              </a:rPr>
              <a:t>Named, and tied to the evidence that points at it.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17080" y="4061460"/>
            <a:ext cx="4251655" cy="205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0F1E3D"/>
                </a:solidFill>
                <a:latin typeface="Calibri"/>
              </a:rPr>
              <a:t>Supporting evidence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17080" y="4244340"/>
            <a:ext cx="425165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050" b="0">
                <a:solidFill>
                  <a:srgbClr val="222630"/>
                </a:solidFill>
                <a:latin typeface="Calibri"/>
              </a:rPr>
              <a:t>Which documents agree, and where they disagree.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17080" y="4396740"/>
            <a:ext cx="4251655" cy="205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0F1E3D"/>
                </a:solidFill>
                <a:latin typeface="Calibri"/>
              </a:rPr>
              <a:t>Recommended action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17080" y="4579620"/>
            <a:ext cx="425165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050" b="0">
                <a:solidFill>
                  <a:srgbClr val="222630"/>
                </a:solidFill>
                <a:latin typeface="Calibri"/>
              </a:rPr>
              <a:t>What the on-call engineer should do next.</a:t>
            </a:r>
          </a:p>
        </p:txBody>
      </p:sp>
      <p:sp>
        <p:nvSpPr>
          <p:cNvPr id="36" name="Shape 36"/>
          <p:cNvSpPr/>
          <p:nvPr/>
        </p:nvSpPr>
        <p:spPr>
          <a:xfrm>
            <a:off x="7117080" y="4800600"/>
            <a:ext cx="4251655" cy="411480"/>
          </a:xfrm>
          <a:prstGeom prst="roundRect">
            <a:avLst>
              <a:gd name="adj" fmla="val 20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7117080" y="4800600"/>
            <a:ext cx="425165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…and a calibrated confidence score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0F1E3D"/>
                </a:solidFill>
                <a:latin typeface="Calibri"/>
              </a:rPr>
              <a:t>One of the two incidents is deliberately thin on evidence. There, the correct answer is low confidence — not a confident guess.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sz="1000" b="0">
                <a:solidFill>
                  <a:srgbClr val="5B6370"/>
                </a:solidFill>
                <a:latin typeface="Calibri"/>
              </a:rPr>
              <a:t>Julius Baer AI Hackathon  •  jb-sidequest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sz="1000" b="0">
                <a:solidFill>
                  <a:srgbClr val="5B6370"/>
                </a:solidFill>
                <a:latin typeface="Calibri"/>
              </a:rPr>
              <a:t>Use case 2 of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USE CASE 2  • 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Setup &amp;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sz="1200" b="1">
                <a:solidFill>
                  <a:srgbClr val="0F1E3D"/>
                </a:solidFill>
              </a:rPr>
              <a:t>~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1572768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rIns="50800" rtlCol="0" anchor="ctr"/>
          <a:lstStyle/>
          <a:p>
            <a:pPr algn="ctr"/>
            <a:r>
              <a:rPr sz="1200" b="1">
                <a:solidFill>
                  <a:srgbClr val="0F1E3D"/>
                </a:solidFill>
              </a:rPr>
              <a:t>MANUAL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1.  pip install -r requirements.txt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2.  cd usecase-2-production-incident-investigator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3.  cp starter/solution.py solution.py — your working copy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4.  Implement investigate(query, corpus) in solution.py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5.  Load each incident with data/loader.py's load_incident(name)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onsolas"/>
              </a:rPr>
              <a:t>6.  Run investigate() for both incidents; save the two reports as answers.json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22630"/>
                </a:solidFill>
                <a:latin typeface="Calibri"/>
              </a:rPr>
              <a:t>solution.py  </a:t>
            </a:r>
            <a:r>
              <a:rPr sz="1500">
                <a:solidFill>
                  <a:srgbClr val="222630"/>
                </a:solidFill>
                <a:latin typeface="Calibri"/>
              </a:rPr>
              <a:t>— your investigate() implementation.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22630"/>
                </a:solidFill>
                <a:latin typeface="Calibri"/>
              </a:rPr>
              <a:t>answers.json  </a:t>
            </a:r>
            <a:r>
              <a:rPr sz="1500">
                <a:solidFill>
                  <a:srgbClr val="222630"/>
                </a:solidFill>
                <a:latin typeface="Calibri"/>
              </a:rPr>
              <a:t>— its output for both incidents, same shape as the spec.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22630"/>
                </a:solidFill>
                <a:latin typeface="Calibri"/>
              </a:rPr>
              <a:t>README.md  </a:t>
            </a:r>
            <a:r>
              <a:rPr sz="1500">
                <a:solidFill>
                  <a:srgbClr val="222630"/>
                </a:solidFill>
                <a:latin typeface="Calibri"/>
              </a:rPr>
              <a:t>— design, understanding of the problem, approach/tradeoffs, your name + phone +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709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E3D"/>
                </a:solidFill>
                <a:latin typeface="Calibri"/>
              </a:rPr>
              <a:t>Graded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22630"/>
                </a:solidFill>
                <a:latin typeface="Calibri"/>
              </a:rPr>
              <a:t>▪  Manually, against a private answer key for both incidents — possibly with an LLM as judge on the organizer's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Julius Baer AI Hackathon  •  jb-sidequest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Use case 2 of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Ground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Attempt as many use cases as you like — one done well beats two done halfway.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Both use cases are evaluated manually, by a human reading your submission against a private answer key. There is no autoscoring or CI in this repo for either one.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AI assistants are welcome and realistic to use — but a fluent, confident-looking first draft is not the same as a correct one. Check your own output against the source material before you trust it.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▪  One participant's work per submission — don't mix contributions from different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227"/>
                </a:solidFill>
                <a:latin typeface="Calibri"/>
              </a:rPr>
              <a:t>Good luck.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1106</Words>
  <Application>Microsoft Office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Prasanta Das</cp:lastModifiedBy>
  <cp:revision>3</cp:revision>
  <dcterms:created xsi:type="dcterms:W3CDTF">2013-01-27T09:14:16Z</dcterms:created>
  <dcterms:modified xsi:type="dcterms:W3CDTF">2026-09-04T11:26:16Z</dcterms:modified>
  <cp:category/>
</cp:coreProperties>
</file>